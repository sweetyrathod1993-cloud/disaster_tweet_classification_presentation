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463040"/>
            <a:ext cx="137160" cy="292608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371600"/>
            <a:ext cx="9601200" cy="3200400"/>
          </a:xfrm>
          <a:prstGeom prst="rect">
            <a:avLst/>
          </a:prstGeom>
          <a:noFill/>
        </p:spPr>
        <p:txBody>
          <a:bodyPr wrap="square">
            <a:spAutoFit/>
          </a:bodyPr>
          <a:lstStyle/>
          <a:p>
            <a:pPr>
              <a:defRPr sz="1300" b="1">
                <a:solidFill>
                  <a:srgbClr val="D9534F"/>
                </a:solidFill>
              </a:defRPr>
            </a:pPr>
            <a:r>
              <a:t>NATURAL LANGUAGE PROCESSING • PROJECT SUBMISSION</a:t>
            </a:r>
          </a:p>
          <a:p>
            <a:pPr>
              <a:spcBef>
                <a:spcPts val="1000"/>
              </a:spcBef>
              <a:defRPr sz="3600" b="1">
                <a:solidFill>
                  <a:srgbClr val="FFFFFF"/>
                </a:solidFill>
              </a:defRPr>
            </a:pPr>
            <a:r>
              <a:t>Disaster Tweet Classification</a:t>
            </a:r>
          </a:p>
          <a:p>
            <a:pPr>
              <a:spcBef>
                <a:spcPts val="800"/>
              </a:spcBef>
              <a:defRPr sz="1800">
                <a:solidFill>
                  <a:srgbClr val="C8D7EB"/>
                </a:solidFill>
              </a:defRPr>
            </a:pPr>
            <a:r>
              <a:t>Automated Emergency Detection via NLP, Machine Learning &amp; Streamlit</a:t>
            </a:r>
          </a:p>
        </p:txBody>
      </p:sp>
      <p:sp>
        <p:nvSpPr>
          <p:cNvPr id="5" name="Rounded Rectangle 4"/>
          <p:cNvSpPr/>
          <p:nvPr/>
        </p:nvSpPr>
        <p:spPr>
          <a:xfrm>
            <a:off x="1463040" y="4937760"/>
            <a:ext cx="9326880" cy="1005840"/>
          </a:xfrm>
          <a:prstGeom prst="roundRect">
            <a:avLst/>
          </a:prstGeom>
          <a:solidFill>
            <a:srgbClr val="23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5029200"/>
            <a:ext cx="8961120" cy="822960"/>
          </a:xfrm>
          <a:prstGeom prst="rect">
            <a:avLst/>
          </a:prstGeom>
          <a:noFill/>
        </p:spPr>
        <p:txBody>
          <a:bodyPr wrap="none">
            <a:spAutoFit/>
          </a:bodyPr>
          <a:lstStyle/>
          <a:p>
            <a:pPr>
              <a:defRPr sz="1100">
                <a:solidFill>
                  <a:srgbClr val="FFFFFF"/>
                </a:solidFill>
              </a:defRPr>
            </a:pPr>
            <a:r>
              <a:t>Dataset: 10,000 Hand-Classified Tweets  •  Models: TF-IDF, Word2Vec, Logistic Regression, Naive Bayes, Random Forest</a:t>
            </a:r>
          </a:p>
          <a:p>
            <a:pPr>
              <a:spcBef>
                <a:spcPts val="500"/>
              </a:spcBef>
              <a:defRPr sz="1100">
                <a:solidFill>
                  <a:srgbClr val="FFC107"/>
                </a:solidFill>
              </a:defRPr>
            </a:pPr>
            <a:r>
              <a:t>Submission Date: October 15, 2026  •  End-to-End Pipeline: Data Prep ➔ Feature Engineering ➔ Tuning ➔ Cloud Web 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1 • PROJECT FOUNDATIONS</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Executive Summary &amp; Core Objectives</a:t>
            </a:r>
          </a:p>
        </p:txBody>
      </p:sp>
      <p:sp>
        <p:nvSpPr>
          <p:cNvPr id="5" name="Rounded Rectangle 4"/>
          <p:cNvSpPr/>
          <p:nvPr/>
        </p:nvSpPr>
        <p:spPr>
          <a:xfrm>
            <a:off x="731520" y="1371600"/>
            <a:ext cx="10728655" cy="12801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1097280"/>
          </a:xfrm>
          <a:prstGeom prst="rect">
            <a:avLst/>
          </a:prstGeom>
          <a:noFill/>
        </p:spPr>
        <p:txBody>
          <a:bodyPr wrap="square">
            <a:spAutoFit/>
          </a:bodyPr>
          <a:lstStyle/>
          <a:p>
            <a:pPr>
              <a:defRPr sz="1400" b="1">
                <a:solidFill>
                  <a:srgbClr val="182B49"/>
                </a:solidFill>
              </a:defRPr>
            </a:pPr>
            <a:r>
              <a:t>Background &amp; The Core NLP Challenge</a:t>
            </a:r>
          </a:p>
          <a:p>
            <a:pPr>
              <a:spcBef>
                <a:spcPts val="400"/>
              </a:spcBef>
              <a:defRPr sz="1150">
                <a:solidFill>
                  <a:srgbClr val="212529"/>
                </a:solidFill>
              </a:defRPr>
            </a:pPr>
            <a:r>
              <a:t>Twitter is a vital real-time communication channel during disasters (wildfires, earthquakes, floods). However, tweets often use emergency keywords metaphorically (e.g., 'this track is straight fire' vs. 'wildfire raging near highway'). The challenge is building an automated model that discerns genuine disaster reports from colloquial noise.</a:t>
            </a:r>
          </a:p>
        </p:txBody>
      </p:sp>
      <p:sp>
        <p:nvSpPr>
          <p:cNvPr id="7" name="Rounded Rectangle 6"/>
          <p:cNvSpPr/>
          <p:nvPr/>
        </p:nvSpPr>
        <p:spPr>
          <a:xfrm>
            <a:off x="731520" y="2926080"/>
            <a:ext cx="2542032" cy="32918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926080"/>
            <a:ext cx="2542032" cy="91440"/>
          </a:xfrm>
          <a:prstGeom prst="rect">
            <a:avLst/>
          </a:prstGeom>
          <a:solidFill>
            <a:srgbClr val="4C7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54680"/>
            <a:ext cx="2267712" cy="2926080"/>
          </a:xfrm>
          <a:prstGeom prst="rect">
            <a:avLst/>
          </a:prstGeom>
          <a:noFill/>
        </p:spPr>
        <p:txBody>
          <a:bodyPr wrap="square">
            <a:spAutoFit/>
          </a:bodyPr>
          <a:lstStyle/>
          <a:p>
            <a:pPr>
              <a:defRPr sz="1300" b="1">
                <a:solidFill>
                  <a:srgbClr val="4C72B0"/>
                </a:solidFill>
              </a:defRPr>
            </a:pPr>
            <a:r>
              <a:t>1. High Classification Accuracy</a:t>
            </a:r>
          </a:p>
          <a:p>
            <a:pPr>
              <a:spcBef>
                <a:spcPts val="1000"/>
              </a:spcBef>
              <a:defRPr sz="1100">
                <a:solidFill>
                  <a:srgbClr val="212529"/>
                </a:solidFill>
              </a:defRPr>
            </a:pPr>
            <a:r>
              <a:t>Distinguish true disaster events with optimal F1-score and low error rate across varied social media texts.</a:t>
            </a:r>
          </a:p>
        </p:txBody>
      </p:sp>
      <p:sp>
        <p:nvSpPr>
          <p:cNvPr id="10" name="Rounded Rectangle 9"/>
          <p:cNvSpPr/>
          <p:nvPr/>
        </p:nvSpPr>
        <p:spPr>
          <a:xfrm>
            <a:off x="3456432" y="2926080"/>
            <a:ext cx="2542032" cy="32918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6432" y="2926080"/>
            <a:ext cx="2542032"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3154680"/>
            <a:ext cx="2267712" cy="2926080"/>
          </a:xfrm>
          <a:prstGeom prst="rect">
            <a:avLst/>
          </a:prstGeom>
          <a:noFill/>
        </p:spPr>
        <p:txBody>
          <a:bodyPr wrap="square">
            <a:spAutoFit/>
          </a:bodyPr>
          <a:lstStyle/>
          <a:p>
            <a:pPr>
              <a:defRPr sz="1300" b="1">
                <a:solidFill>
                  <a:srgbClr val="D9534F"/>
                </a:solidFill>
              </a:defRPr>
            </a:pPr>
            <a:r>
              <a:t>2. High Precision (Low False Alarms)</a:t>
            </a:r>
          </a:p>
          <a:p>
            <a:pPr>
              <a:spcBef>
                <a:spcPts val="1000"/>
              </a:spcBef>
              <a:defRPr sz="1100">
                <a:solidFill>
                  <a:srgbClr val="212529"/>
                </a:solidFill>
              </a:defRPr>
            </a:pPr>
            <a:r>
              <a:t>Minimize false disaster alerts to prevent unnecessary panic and relief resource misallocation.</a:t>
            </a:r>
          </a:p>
        </p:txBody>
      </p:sp>
      <p:sp>
        <p:nvSpPr>
          <p:cNvPr id="13" name="Rounded Rectangle 12"/>
          <p:cNvSpPr/>
          <p:nvPr/>
        </p:nvSpPr>
        <p:spPr>
          <a:xfrm>
            <a:off x="6181344" y="2926080"/>
            <a:ext cx="2542032" cy="32918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2926080"/>
            <a:ext cx="2542032" cy="9144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3154680"/>
            <a:ext cx="2267712" cy="2926080"/>
          </a:xfrm>
          <a:prstGeom prst="rect">
            <a:avLst/>
          </a:prstGeom>
          <a:noFill/>
        </p:spPr>
        <p:txBody>
          <a:bodyPr wrap="square">
            <a:spAutoFit/>
          </a:bodyPr>
          <a:lstStyle/>
          <a:p>
            <a:pPr>
              <a:defRPr sz="1300" b="1">
                <a:solidFill>
                  <a:srgbClr val="182B49"/>
                </a:solidFill>
              </a:defRPr>
            </a:pPr>
            <a:r>
              <a:t>3. Language Robustness</a:t>
            </a:r>
          </a:p>
          <a:p>
            <a:pPr>
              <a:spcBef>
                <a:spcPts val="1000"/>
              </a:spcBef>
              <a:defRPr sz="1100">
                <a:solidFill>
                  <a:srgbClr val="212529"/>
                </a:solidFill>
              </a:defRPr>
            </a:pPr>
            <a:r>
              <a:t>Handle informal abbreviations, slang, hashtags, user mentions, URLs, and punctuation variations effectively.</a:t>
            </a:r>
          </a:p>
        </p:txBody>
      </p:sp>
      <p:sp>
        <p:nvSpPr>
          <p:cNvPr id="16" name="Rounded Rectangle 15"/>
          <p:cNvSpPr/>
          <p:nvPr/>
        </p:nvSpPr>
        <p:spPr>
          <a:xfrm>
            <a:off x="8906256" y="2926080"/>
            <a:ext cx="2542032" cy="32918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06256" y="2926080"/>
            <a:ext cx="2542032" cy="91440"/>
          </a:xfrm>
          <a:prstGeom prst="rect">
            <a:avLst/>
          </a:prstGeom>
          <a:solidFill>
            <a:srgbClr val="55A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3154680"/>
            <a:ext cx="2267712" cy="2926080"/>
          </a:xfrm>
          <a:prstGeom prst="rect">
            <a:avLst/>
          </a:prstGeom>
          <a:noFill/>
        </p:spPr>
        <p:txBody>
          <a:bodyPr wrap="square">
            <a:spAutoFit/>
          </a:bodyPr>
          <a:lstStyle/>
          <a:p>
            <a:pPr>
              <a:defRPr sz="1300" b="1">
                <a:solidFill>
                  <a:srgbClr val="55A868"/>
                </a:solidFill>
              </a:defRPr>
            </a:pPr>
            <a:r>
              <a:t>4. Scalable Cloud Deployment</a:t>
            </a:r>
          </a:p>
          <a:p>
            <a:pPr>
              <a:spcBef>
                <a:spcPts val="1000"/>
              </a:spcBef>
              <a:defRPr sz="1100">
                <a:solidFill>
                  <a:srgbClr val="212529"/>
                </a:solidFill>
              </a:defRPr>
            </a:pPr>
            <a:r>
              <a:t>Serialize the trained model and build an interactive web interface for real-time inference.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1 • DATA EXPLORATION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Dataset Architecture &amp; Quality Analysis</a:t>
            </a:r>
          </a:p>
        </p:txBody>
      </p:sp>
      <p:sp>
        <p:nvSpPr>
          <p:cNvPr id="5" name="Rounded Rectangle 4"/>
          <p:cNvSpPr/>
          <p:nvPr/>
        </p:nvSpPr>
        <p:spPr>
          <a:xfrm>
            <a:off x="731520" y="1371600"/>
            <a:ext cx="4389120"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023360" cy="4663440"/>
          </a:xfrm>
          <a:prstGeom prst="rect">
            <a:avLst/>
          </a:prstGeom>
          <a:noFill/>
        </p:spPr>
        <p:txBody>
          <a:bodyPr wrap="square">
            <a:spAutoFit/>
          </a:bodyPr>
          <a:lstStyle/>
          <a:p>
            <a:pPr>
              <a:defRPr sz="1400" b="1">
                <a:solidFill>
                  <a:srgbClr val="182B49"/>
                </a:solidFill>
              </a:defRPr>
            </a:pPr>
            <a:r>
              <a:t>Dataset Composition &amp; Dimensions</a:t>
            </a:r>
          </a:p>
          <a:p>
            <a:pPr>
              <a:spcBef>
                <a:spcPts val="600"/>
              </a:spcBef>
              <a:defRPr sz="1150">
                <a:solidFill>
                  <a:srgbClr val="212529"/>
                </a:solidFill>
              </a:defRPr>
            </a:pPr>
            <a:r>
              <a:t>• Total Records: 7,613 hand-classified disaster tweets</a:t>
            </a:r>
            <a:br/>
            <a:r>
              <a:t>• Target Balance: 57.0% Non-Disaster (0) vs. 43.0% Disaster (1)</a:t>
            </a:r>
            <a:br/>
            <a:r>
              <a:t>• Features: id, keyword, location, text, target</a:t>
            </a:r>
          </a:p>
          <a:p>
            <a:pPr>
              <a:spcBef>
                <a:spcPts val="1400"/>
              </a:spcBef>
              <a:defRPr sz="1400" b="1">
                <a:solidFill>
                  <a:srgbClr val="D9534F"/>
                </a:solidFill>
              </a:defRPr>
            </a:pPr>
            <a:r>
              <a:t>Missing Values &amp; Data Integrity Check</a:t>
            </a:r>
          </a:p>
          <a:p>
            <a:pPr>
              <a:spcBef>
                <a:spcPts val="600"/>
              </a:spcBef>
              <a:defRPr sz="1150">
                <a:solidFill>
                  <a:srgbClr val="212529"/>
                </a:solidFill>
              </a:defRPr>
            </a:pPr>
            <a:r>
              <a:t>• Location Column: 2,534 missing values (33.29% null)</a:t>
            </a:r>
            <a:br/>
            <a:r>
              <a:t>• Keyword Column: 61 missing values (0.80% null)</a:t>
            </a:r>
            <a:br/>
            <a:r>
              <a:t>• Text &amp; Target: 0 missing values (100% complete)</a:t>
            </a:r>
          </a:p>
          <a:p>
            <a:pPr>
              <a:spcBef>
                <a:spcPts val="1400"/>
              </a:spcBef>
              <a:defRPr sz="1400" b="1">
                <a:solidFill>
                  <a:srgbClr val="182B49"/>
                </a:solidFill>
              </a:defRPr>
            </a:pPr>
            <a:r>
              <a:t>Duplicate Text &amp; Conflicting Labels</a:t>
            </a:r>
          </a:p>
          <a:p>
            <a:pPr>
              <a:spcBef>
                <a:spcPts val="600"/>
              </a:spcBef>
              <a:defRPr sz="1150">
                <a:solidFill>
                  <a:srgbClr val="212529"/>
                </a:solidFill>
              </a:defRPr>
            </a:pPr>
            <a:r>
              <a:t>• 110 duplicate text entries across 179 rows.</a:t>
            </a:r>
            <a:br/>
            <a:r>
              <a:t>• 18 unique tweets have conflicting ground-truth targets (crowdsourced annotation noise).</a:t>
            </a:r>
          </a:p>
        </p:txBody>
      </p:sp>
      <p:pic>
        <p:nvPicPr>
          <p:cNvPr id="7" name="Picture 6" descr="slide_eda_dist.png"/>
          <p:cNvPicPr>
            <a:picLocks noChangeAspect="1"/>
          </p:cNvPicPr>
          <p:nvPr/>
        </p:nvPicPr>
        <p:blipFill>
          <a:blip r:embed="rId2"/>
          <a:stretch>
            <a:fillRect/>
          </a:stretch>
        </p:blipFill>
        <p:spPr>
          <a:xfrm>
            <a:off x="5303520" y="1645920"/>
            <a:ext cx="6126480" cy="183794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1 • TEXT STRUCTURE</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Metadata Characteristics &amp; Tweet Length Analysis</a:t>
            </a:r>
          </a:p>
        </p:txBody>
      </p:sp>
      <p:sp>
        <p:nvSpPr>
          <p:cNvPr id="5" name="Rounded Rectangle 4"/>
          <p:cNvSpPr/>
          <p:nvPr/>
        </p:nvSpPr>
        <p:spPr>
          <a:xfrm>
            <a:off x="731520"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456432" cy="91440"/>
          </a:xfrm>
          <a:prstGeom prst="rect">
            <a:avLst/>
          </a:prstGeom>
          <a:solidFill>
            <a:srgbClr val="4C7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090672" cy="4572000"/>
          </a:xfrm>
          <a:prstGeom prst="rect">
            <a:avLst/>
          </a:prstGeom>
          <a:noFill/>
        </p:spPr>
        <p:txBody>
          <a:bodyPr wrap="square">
            <a:spAutoFit/>
          </a:bodyPr>
          <a:lstStyle/>
          <a:p>
            <a:pPr>
              <a:defRPr sz="1500" b="1">
                <a:solidFill>
                  <a:srgbClr val="4C72B0"/>
                </a:solidFill>
              </a:defRPr>
            </a:pPr>
            <a:r>
              <a:t>Character Length</a:t>
            </a:r>
          </a:p>
          <a:p>
            <a:pPr>
              <a:spcBef>
                <a:spcPts val="1200"/>
              </a:spcBef>
              <a:defRPr sz="2000" b="1">
                <a:solidFill>
                  <a:srgbClr val="D9534F"/>
                </a:solidFill>
              </a:defRPr>
            </a:pPr>
            <a:r>
              <a:t>Disaster: 108.1 chars</a:t>
            </a:r>
          </a:p>
          <a:p>
            <a:pPr>
              <a:spcBef>
                <a:spcPts val="400"/>
              </a:spcBef>
              <a:defRPr sz="1400">
                <a:solidFill>
                  <a:srgbClr val="6C757D"/>
                </a:solidFill>
              </a:defRPr>
            </a:pPr>
            <a:r>
              <a:t>Non-Disaster: 95.7 chars</a:t>
            </a:r>
          </a:p>
          <a:p>
            <a:pPr>
              <a:spcBef>
                <a:spcPts val="1000"/>
              </a:spcBef>
              <a:defRPr sz="1300" b="1">
                <a:solidFill>
                  <a:srgbClr val="55A868"/>
                </a:solidFill>
              </a:defRPr>
            </a:pPr>
            <a:r>
              <a:t>Delta: +12.4 chars</a:t>
            </a:r>
          </a:p>
          <a:p>
            <a:pPr>
              <a:spcBef>
                <a:spcPts val="1400"/>
              </a:spcBef>
              <a:defRPr sz="1100">
                <a:solidFill>
                  <a:srgbClr val="212529"/>
                </a:solidFill>
              </a:defRPr>
            </a:pPr>
            <a:r>
              <a:t>Structural Insight:</a:t>
            </a:r>
            <a:br/>
            <a:r>
              <a:t>Disaster tweets use formal terminology and detail, resulting in longer overall length.</a:t>
            </a:r>
          </a:p>
        </p:txBody>
      </p:sp>
      <p:sp>
        <p:nvSpPr>
          <p:cNvPr id="8" name="Rounded Rectangle 7"/>
          <p:cNvSpPr/>
          <p:nvPr/>
        </p:nvSpPr>
        <p:spPr>
          <a:xfrm>
            <a:off x="4370832"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371600"/>
            <a:ext cx="3456432"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3090672" cy="4572000"/>
          </a:xfrm>
          <a:prstGeom prst="rect">
            <a:avLst/>
          </a:prstGeom>
          <a:noFill/>
        </p:spPr>
        <p:txBody>
          <a:bodyPr wrap="square">
            <a:spAutoFit/>
          </a:bodyPr>
          <a:lstStyle/>
          <a:p>
            <a:pPr>
              <a:defRPr sz="1500" b="1">
                <a:solidFill>
                  <a:srgbClr val="D9534F"/>
                </a:solidFill>
              </a:defRPr>
            </a:pPr>
            <a:r>
              <a:t>Web URLs / Links</a:t>
            </a:r>
          </a:p>
          <a:p>
            <a:pPr>
              <a:spcBef>
                <a:spcPts val="1200"/>
              </a:spcBef>
              <a:defRPr sz="2000" b="1">
                <a:solidFill>
                  <a:srgbClr val="D9534F"/>
                </a:solidFill>
              </a:defRPr>
            </a:pPr>
            <a:r>
              <a:t>Disaster: 0.77 URLs</a:t>
            </a:r>
          </a:p>
          <a:p>
            <a:pPr>
              <a:spcBef>
                <a:spcPts val="400"/>
              </a:spcBef>
              <a:defRPr sz="1400">
                <a:solidFill>
                  <a:srgbClr val="6C757D"/>
                </a:solidFill>
              </a:defRPr>
            </a:pPr>
            <a:r>
              <a:t>Non-Disaster: 0.51 URLs</a:t>
            </a:r>
          </a:p>
          <a:p>
            <a:pPr>
              <a:spcBef>
                <a:spcPts val="1000"/>
              </a:spcBef>
              <a:defRPr sz="1300" b="1">
                <a:solidFill>
                  <a:srgbClr val="55A868"/>
                </a:solidFill>
              </a:defRPr>
            </a:pPr>
            <a:r>
              <a:t>Delta: +51% More URLs</a:t>
            </a:r>
          </a:p>
          <a:p>
            <a:pPr>
              <a:spcBef>
                <a:spcPts val="1400"/>
              </a:spcBef>
              <a:defRPr sz="1100">
                <a:solidFill>
                  <a:srgbClr val="212529"/>
                </a:solidFill>
              </a:defRPr>
            </a:pPr>
            <a:r>
              <a:t>Structural Insight:</a:t>
            </a:r>
            <a:br/>
            <a:r>
              <a:t>Disaster reports frequently link to live news feeds, weather advisories, and emergency portals.</a:t>
            </a:r>
          </a:p>
        </p:txBody>
      </p:sp>
      <p:sp>
        <p:nvSpPr>
          <p:cNvPr id="11" name="Rounded Rectangle 10"/>
          <p:cNvSpPr/>
          <p:nvPr/>
        </p:nvSpPr>
        <p:spPr>
          <a:xfrm>
            <a:off x="8010144"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0144" y="1371600"/>
            <a:ext cx="3456432" cy="9144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600200"/>
            <a:ext cx="3090672" cy="4572000"/>
          </a:xfrm>
          <a:prstGeom prst="rect">
            <a:avLst/>
          </a:prstGeom>
          <a:noFill/>
        </p:spPr>
        <p:txBody>
          <a:bodyPr wrap="square">
            <a:spAutoFit/>
          </a:bodyPr>
          <a:lstStyle/>
          <a:p>
            <a:pPr>
              <a:defRPr sz="1500" b="1">
                <a:solidFill>
                  <a:srgbClr val="182B49"/>
                </a:solidFill>
              </a:defRPr>
            </a:pPr>
            <a:r>
              <a:t>User Mentions (@)</a:t>
            </a:r>
          </a:p>
          <a:p>
            <a:pPr>
              <a:spcBef>
                <a:spcPts val="1200"/>
              </a:spcBef>
              <a:defRPr sz="2000" b="1">
                <a:solidFill>
                  <a:srgbClr val="D9534F"/>
                </a:solidFill>
              </a:defRPr>
            </a:pPr>
            <a:r>
              <a:t>Disaster: 0.27 Mentions</a:t>
            </a:r>
          </a:p>
          <a:p>
            <a:pPr>
              <a:spcBef>
                <a:spcPts val="400"/>
              </a:spcBef>
              <a:defRPr sz="1400">
                <a:solidFill>
                  <a:srgbClr val="6C757D"/>
                </a:solidFill>
              </a:defRPr>
            </a:pPr>
            <a:r>
              <a:t>Non-Disaster: 0.42 Mentions</a:t>
            </a:r>
          </a:p>
          <a:p>
            <a:pPr>
              <a:spcBef>
                <a:spcPts val="1000"/>
              </a:spcBef>
              <a:defRPr sz="1300" b="1">
                <a:solidFill>
                  <a:srgbClr val="55A868"/>
                </a:solidFill>
              </a:defRPr>
            </a:pPr>
            <a:r>
              <a:t>Delta: -36% Fewer @s</a:t>
            </a:r>
          </a:p>
          <a:p>
            <a:pPr>
              <a:spcBef>
                <a:spcPts val="1400"/>
              </a:spcBef>
              <a:defRPr sz="1100">
                <a:solidFill>
                  <a:srgbClr val="212529"/>
                </a:solidFill>
              </a:defRPr>
            </a:pPr>
            <a:r>
              <a:t>Structural Insight:</a:t>
            </a:r>
            <a:br/>
            <a:r>
              <a:t>Non-disaster tweets feature conversational chatting and social replies with higher mention density.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1 • VOCABULARY MINING</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Keyword &amp; Phrase Frequency Analysis</a:t>
            </a:r>
          </a:p>
        </p:txBody>
      </p:sp>
      <p:sp>
        <p:nvSpPr>
          <p:cNvPr id="5" name="Rounded Rectangle 4"/>
          <p:cNvSpPr/>
          <p:nvPr/>
        </p:nvSpPr>
        <p:spPr>
          <a:xfrm>
            <a:off x="731520" y="1371600"/>
            <a:ext cx="10728655" cy="12801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1097280"/>
          </a:xfrm>
          <a:prstGeom prst="rect">
            <a:avLst/>
          </a:prstGeom>
          <a:noFill/>
        </p:spPr>
        <p:txBody>
          <a:bodyPr wrap="square">
            <a:spAutoFit/>
          </a:bodyPr>
          <a:lstStyle/>
          <a:p>
            <a:pPr>
              <a:defRPr sz="1400" b="1">
                <a:solidFill>
                  <a:srgbClr val="182B49"/>
                </a:solidFill>
              </a:defRPr>
            </a:pPr>
            <a:r>
              <a:t>Key Finding: Vocabulary Separation vs. Metaphorical Overlap</a:t>
            </a:r>
          </a:p>
          <a:p>
            <a:pPr>
              <a:spcBef>
                <a:spcPts val="400"/>
              </a:spcBef>
              <a:defRPr sz="1100">
                <a:solidFill>
                  <a:srgbClr val="212529"/>
                </a:solidFill>
              </a:defRPr>
            </a:pPr>
            <a:r>
              <a:t>• True Disaster Keywords: High specificity terms like 'derailment', 'outbreak', 'wreckage', 'oil spill', 'typhoon', 'debris'.</a:t>
            </a:r>
            <a:br/>
            <a:r>
              <a:t>• Colloquial Non-Disaster Keywords: Dramatized emotional words like 'body bags', 'armageddon', 'harm', 'ruin', 'panic', 'screaming'.</a:t>
            </a:r>
            <a:br/>
            <a:r>
              <a:t>• Critical Bigrams: 'suicide bomber', 'northern california', 'burning buildings', 'california wildfire' indicate emergency alerts.</a:t>
            </a:r>
          </a:p>
        </p:txBody>
      </p:sp>
      <p:pic>
        <p:nvPicPr>
          <p:cNvPr id="7" name="Picture 6" descr="slide_kw_phrases.png"/>
          <p:cNvPicPr>
            <a:picLocks noChangeAspect="1"/>
          </p:cNvPicPr>
          <p:nvPr/>
        </p:nvPicPr>
        <p:blipFill>
          <a:blip r:embed="rId2"/>
          <a:stretch>
            <a:fillRect/>
          </a:stretch>
        </p:blipFill>
        <p:spPr>
          <a:xfrm>
            <a:off x="731520" y="2834640"/>
            <a:ext cx="10728655" cy="344849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1 • DATA PREPARATION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Text Preprocessing &amp; Pipeline Standardization</a:t>
            </a:r>
          </a:p>
        </p:txBody>
      </p:sp>
      <p:sp>
        <p:nvSpPr>
          <p:cNvPr id="5" name="Rounded Rectangle 4"/>
          <p:cNvSpPr/>
          <p:nvPr/>
        </p:nvSpPr>
        <p:spPr>
          <a:xfrm>
            <a:off x="731520" y="1371600"/>
            <a:ext cx="3456432" cy="22860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3182112" cy="2011680"/>
          </a:xfrm>
          <a:prstGeom prst="rect">
            <a:avLst/>
          </a:prstGeom>
          <a:noFill/>
        </p:spPr>
        <p:txBody>
          <a:bodyPr wrap="square">
            <a:spAutoFit/>
          </a:bodyPr>
          <a:lstStyle/>
          <a:p>
            <a:pPr>
              <a:defRPr sz="1300" b="1">
                <a:solidFill>
                  <a:srgbClr val="182B49"/>
                </a:solidFill>
              </a:defRPr>
            </a:pPr>
            <a:r>
              <a:t>1. Lowercasing</a:t>
            </a:r>
          </a:p>
          <a:p>
            <a:pPr>
              <a:spcBef>
                <a:spcPts val="500"/>
              </a:spcBef>
              <a:defRPr sz="1050">
                <a:solidFill>
                  <a:srgbClr val="212529"/>
                </a:solidFill>
              </a:defRPr>
            </a:pPr>
            <a:r>
              <a:t>Standardizes all character casing to prevent vocabulary duplication.</a:t>
            </a:r>
          </a:p>
          <a:p>
            <a:pPr>
              <a:spcBef>
                <a:spcPts val="800"/>
              </a:spcBef>
              <a:defRPr sz="1000" b="1">
                <a:solidFill>
                  <a:srgbClr val="D9534F"/>
                </a:solidFill>
              </a:defRPr>
            </a:pPr>
            <a:r>
              <a:t>Rule: TEXT ➔ text</a:t>
            </a:r>
          </a:p>
        </p:txBody>
      </p:sp>
      <p:sp>
        <p:nvSpPr>
          <p:cNvPr id="7" name="Rounded Rectangle 6"/>
          <p:cNvSpPr/>
          <p:nvPr/>
        </p:nvSpPr>
        <p:spPr>
          <a:xfrm>
            <a:off x="4370832" y="1371600"/>
            <a:ext cx="3456432" cy="22860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7992" y="1508760"/>
            <a:ext cx="3182112" cy="2011680"/>
          </a:xfrm>
          <a:prstGeom prst="rect">
            <a:avLst/>
          </a:prstGeom>
          <a:noFill/>
        </p:spPr>
        <p:txBody>
          <a:bodyPr wrap="square">
            <a:spAutoFit/>
          </a:bodyPr>
          <a:lstStyle/>
          <a:p>
            <a:pPr>
              <a:defRPr sz="1300" b="1">
                <a:solidFill>
                  <a:srgbClr val="182B49"/>
                </a:solidFill>
              </a:defRPr>
            </a:pPr>
            <a:r>
              <a:t>2. URL Removal</a:t>
            </a:r>
          </a:p>
          <a:p>
            <a:pPr>
              <a:spcBef>
                <a:spcPts val="500"/>
              </a:spcBef>
              <a:defRPr sz="1050">
                <a:solidFill>
                  <a:srgbClr val="212529"/>
                </a:solidFill>
              </a:defRPr>
            </a:pPr>
            <a:r>
              <a:t>Eliminates http/https web links that add dimensionality noise.</a:t>
            </a:r>
          </a:p>
          <a:p>
            <a:pPr>
              <a:spcBef>
                <a:spcPts val="800"/>
              </a:spcBef>
              <a:defRPr sz="1000" b="1">
                <a:solidFill>
                  <a:srgbClr val="D9534F"/>
                </a:solidFill>
              </a:defRPr>
            </a:pPr>
            <a:r>
              <a:t>Rule: https://t.co/... ➔ ''</a:t>
            </a:r>
          </a:p>
        </p:txBody>
      </p:sp>
      <p:sp>
        <p:nvSpPr>
          <p:cNvPr id="9" name="Rounded Rectangle 8"/>
          <p:cNvSpPr/>
          <p:nvPr/>
        </p:nvSpPr>
        <p:spPr>
          <a:xfrm>
            <a:off x="8010144" y="1371600"/>
            <a:ext cx="3456432" cy="22860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47304" y="1508760"/>
            <a:ext cx="3182112" cy="2011680"/>
          </a:xfrm>
          <a:prstGeom prst="rect">
            <a:avLst/>
          </a:prstGeom>
          <a:noFill/>
        </p:spPr>
        <p:txBody>
          <a:bodyPr wrap="square">
            <a:spAutoFit/>
          </a:bodyPr>
          <a:lstStyle/>
          <a:p>
            <a:pPr>
              <a:defRPr sz="1300" b="1">
                <a:solidFill>
                  <a:srgbClr val="182B49"/>
                </a:solidFill>
              </a:defRPr>
            </a:pPr>
            <a:r>
              <a:t>3. HTML Stripping</a:t>
            </a:r>
          </a:p>
          <a:p>
            <a:pPr>
              <a:spcBef>
                <a:spcPts val="500"/>
              </a:spcBef>
              <a:defRPr sz="1050">
                <a:solidFill>
                  <a:srgbClr val="212529"/>
                </a:solidFill>
              </a:defRPr>
            </a:pPr>
            <a:r>
              <a:t>Removes web artifacts like &lt;br&gt;, &amp;amp;, and encoding entities.</a:t>
            </a:r>
          </a:p>
          <a:p>
            <a:pPr>
              <a:spcBef>
                <a:spcPts val="800"/>
              </a:spcBef>
              <a:defRPr sz="1000" b="1">
                <a:solidFill>
                  <a:srgbClr val="D9534F"/>
                </a:solidFill>
              </a:defRPr>
            </a:pPr>
            <a:r>
              <a:t>Rule: &lt;.*?&gt; ➔ ''</a:t>
            </a:r>
          </a:p>
        </p:txBody>
      </p:sp>
      <p:sp>
        <p:nvSpPr>
          <p:cNvPr id="11" name="Rounded Rectangle 10"/>
          <p:cNvSpPr/>
          <p:nvPr/>
        </p:nvSpPr>
        <p:spPr>
          <a:xfrm>
            <a:off x="731520" y="3840480"/>
            <a:ext cx="3456432" cy="22860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977640"/>
            <a:ext cx="3182112" cy="2011680"/>
          </a:xfrm>
          <a:prstGeom prst="rect">
            <a:avLst/>
          </a:prstGeom>
          <a:noFill/>
        </p:spPr>
        <p:txBody>
          <a:bodyPr wrap="square">
            <a:spAutoFit/>
          </a:bodyPr>
          <a:lstStyle/>
          <a:p>
            <a:pPr>
              <a:defRPr sz="1300" b="1">
                <a:solidFill>
                  <a:srgbClr val="182B49"/>
                </a:solidFill>
              </a:defRPr>
            </a:pPr>
            <a:r>
              <a:t>4. Mentions &amp; Hashtags</a:t>
            </a:r>
          </a:p>
          <a:p>
            <a:pPr>
              <a:spcBef>
                <a:spcPts val="500"/>
              </a:spcBef>
              <a:defRPr sz="1050">
                <a:solidFill>
                  <a:srgbClr val="212529"/>
                </a:solidFill>
              </a:defRPr>
            </a:pPr>
            <a:r>
              <a:t>Removes conversational @handles and strips '#' prefix to keep words.</a:t>
            </a:r>
          </a:p>
          <a:p>
            <a:pPr>
              <a:spcBef>
                <a:spcPts val="800"/>
              </a:spcBef>
              <a:defRPr sz="1000" b="1">
                <a:solidFill>
                  <a:srgbClr val="D9534F"/>
                </a:solidFill>
              </a:defRPr>
            </a:pPr>
            <a:r>
              <a:t>Rule: @user #fire ➔ fire</a:t>
            </a:r>
          </a:p>
        </p:txBody>
      </p:sp>
      <p:sp>
        <p:nvSpPr>
          <p:cNvPr id="13" name="Rounded Rectangle 12"/>
          <p:cNvSpPr/>
          <p:nvPr/>
        </p:nvSpPr>
        <p:spPr>
          <a:xfrm>
            <a:off x="4370832" y="3840480"/>
            <a:ext cx="3456432" cy="22860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3977640"/>
            <a:ext cx="3182112" cy="2011680"/>
          </a:xfrm>
          <a:prstGeom prst="rect">
            <a:avLst/>
          </a:prstGeom>
          <a:noFill/>
        </p:spPr>
        <p:txBody>
          <a:bodyPr wrap="square">
            <a:spAutoFit/>
          </a:bodyPr>
          <a:lstStyle/>
          <a:p>
            <a:pPr>
              <a:defRPr sz="1300" b="1">
                <a:solidFill>
                  <a:srgbClr val="182B49"/>
                </a:solidFill>
              </a:defRPr>
            </a:pPr>
            <a:r>
              <a:t>5. Punctuation &amp; Digits</a:t>
            </a:r>
          </a:p>
          <a:p>
            <a:pPr>
              <a:spcBef>
                <a:spcPts val="500"/>
              </a:spcBef>
              <a:defRPr sz="1050">
                <a:solidFill>
                  <a:srgbClr val="212529"/>
                </a:solidFill>
              </a:defRPr>
            </a:pPr>
            <a:r>
              <a:t>Cleans out special symbols and numbers that do not carry semantic intent.</a:t>
            </a:r>
          </a:p>
          <a:p>
            <a:pPr>
              <a:spcBef>
                <a:spcPts val="800"/>
              </a:spcBef>
              <a:defRPr sz="1000" b="1">
                <a:solidFill>
                  <a:srgbClr val="D9534F"/>
                </a:solidFill>
              </a:defRPr>
            </a:pPr>
            <a:r>
              <a:t>Rule: [!?,.:] &amp; \d+ ➔ ''</a:t>
            </a:r>
          </a:p>
        </p:txBody>
      </p:sp>
      <p:sp>
        <p:nvSpPr>
          <p:cNvPr id="15" name="Rounded Rectangle 14"/>
          <p:cNvSpPr/>
          <p:nvPr/>
        </p:nvSpPr>
        <p:spPr>
          <a:xfrm>
            <a:off x="8010144" y="3840480"/>
            <a:ext cx="3456432" cy="22860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7304" y="3977640"/>
            <a:ext cx="3182112" cy="2011680"/>
          </a:xfrm>
          <a:prstGeom prst="rect">
            <a:avLst/>
          </a:prstGeom>
          <a:noFill/>
        </p:spPr>
        <p:txBody>
          <a:bodyPr wrap="square">
            <a:spAutoFit/>
          </a:bodyPr>
          <a:lstStyle/>
          <a:p>
            <a:pPr>
              <a:defRPr sz="1300" b="1">
                <a:solidFill>
                  <a:srgbClr val="182B49"/>
                </a:solidFill>
              </a:defRPr>
            </a:pPr>
            <a:r>
              <a:t>6. Stopwords &amp; Pruning</a:t>
            </a:r>
          </a:p>
          <a:p>
            <a:pPr>
              <a:spcBef>
                <a:spcPts val="500"/>
              </a:spcBef>
              <a:defRPr sz="1050">
                <a:solidFill>
                  <a:srgbClr val="212529"/>
                </a:solidFill>
              </a:defRPr>
            </a:pPr>
            <a:r>
              <a:t>Filters NLTK English stopwords and drops short tokens (&lt; 3 characters).</a:t>
            </a:r>
          </a:p>
          <a:p>
            <a:pPr>
              <a:spcBef>
                <a:spcPts val="800"/>
              </a:spcBef>
              <a:defRPr sz="1000" b="1">
                <a:solidFill>
                  <a:srgbClr val="D9534F"/>
                </a:solidFill>
              </a:defRPr>
            </a:pPr>
            <a:r>
              <a:t>Rule: tokens &gt; 2 chars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2 • FEATURE EXTRACTION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Feature Engineering: VADER Sentiment Analysis</a:t>
            </a:r>
          </a:p>
        </p:txBody>
      </p:sp>
      <p:sp>
        <p:nvSpPr>
          <p:cNvPr id="5" name="Rounded Rectangle 4"/>
          <p:cNvSpPr/>
          <p:nvPr/>
        </p:nvSpPr>
        <p:spPr>
          <a:xfrm>
            <a:off x="731520" y="1371600"/>
            <a:ext cx="4114800"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749039" cy="4663440"/>
          </a:xfrm>
          <a:prstGeom prst="rect">
            <a:avLst/>
          </a:prstGeom>
          <a:noFill/>
        </p:spPr>
        <p:txBody>
          <a:bodyPr wrap="square">
            <a:spAutoFit/>
          </a:bodyPr>
          <a:lstStyle/>
          <a:p>
            <a:pPr>
              <a:defRPr sz="1400" b="1">
                <a:solidFill>
                  <a:srgbClr val="182B49"/>
                </a:solidFill>
              </a:defRPr>
            </a:pPr>
            <a:r>
              <a:t>Why Sentiment for Disaster Detection?</a:t>
            </a:r>
          </a:p>
          <a:p>
            <a:pPr>
              <a:spcBef>
                <a:spcPts val="600"/>
              </a:spcBef>
              <a:defRPr sz="1100">
                <a:solidFill>
                  <a:srgbClr val="212529"/>
                </a:solidFill>
              </a:defRPr>
            </a:pPr>
            <a:r>
              <a:t>Natural disasters trigger strong feelings of distress, danger, and urgency. VADER (Valence Aware Dictionary and sEntiment Reasoner) was utilized to extract continuous affective scores.</a:t>
            </a:r>
          </a:p>
          <a:p>
            <a:pPr>
              <a:spcBef>
                <a:spcPts val="1400"/>
              </a:spcBef>
              <a:defRPr sz="1400" b="1">
                <a:solidFill>
                  <a:srgbClr val="D9534F"/>
                </a:solidFill>
              </a:defRPr>
            </a:pPr>
            <a:r>
              <a:t>Empirical Sentiment Profile</a:t>
            </a:r>
          </a:p>
          <a:p>
            <a:pPr>
              <a:spcBef>
                <a:spcPts val="600"/>
              </a:spcBef>
              <a:defRPr sz="1100">
                <a:solidFill>
                  <a:srgbClr val="212529"/>
                </a:solidFill>
              </a:defRPr>
            </a:pPr>
            <a:r>
              <a:t>• Compound Polarity:</a:t>
            </a:r>
            <a:br/>
            <a:r>
              <a:t>   Disaster: -0.2646 (Steep negative)</a:t>
            </a:r>
            <a:br/>
            <a:r>
              <a:t>   Non-Disaster: -0.0607</a:t>
            </a:r>
            <a:br/>
            <a:r>
              <a:t>• Positive Sentiment:</a:t>
            </a:r>
            <a:br/>
            <a:r>
              <a:t>   Disaster tweets contain less than half the positive tone (4.93% vs. 10.21%).</a:t>
            </a:r>
            <a:br/>
            <a:r>
              <a:t>• Categorical Distribution:</a:t>
            </a:r>
            <a:br/>
            <a:r>
              <a:t>   56.89% of disaster tweets are strictly Negative vs. only 16.20% Positive.</a:t>
            </a:r>
          </a:p>
        </p:txBody>
      </p:sp>
      <p:pic>
        <p:nvPicPr>
          <p:cNvPr id="7" name="Picture 6" descr="slide_sentiment.png"/>
          <p:cNvPicPr>
            <a:picLocks noChangeAspect="1"/>
          </p:cNvPicPr>
          <p:nvPr/>
        </p:nvPicPr>
        <p:blipFill>
          <a:blip r:embed="rId2"/>
          <a:stretch>
            <a:fillRect/>
          </a:stretch>
        </p:blipFill>
        <p:spPr>
          <a:xfrm>
            <a:off x="5029200" y="1645920"/>
            <a:ext cx="6400800" cy="2057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2 • SEMANTIC REPRESENTATION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Continuous Dense Embeddings (Word2Vec)</a:t>
            </a:r>
          </a:p>
        </p:txBody>
      </p:sp>
      <p:sp>
        <p:nvSpPr>
          <p:cNvPr id="5" name="Rounded Rectangle 4"/>
          <p:cNvSpPr/>
          <p:nvPr/>
        </p:nvSpPr>
        <p:spPr>
          <a:xfrm>
            <a:off x="731520"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456432" cy="9144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090672" cy="4572000"/>
          </a:xfrm>
          <a:prstGeom prst="rect">
            <a:avLst/>
          </a:prstGeom>
          <a:noFill/>
        </p:spPr>
        <p:txBody>
          <a:bodyPr wrap="square">
            <a:spAutoFit/>
          </a:bodyPr>
          <a:lstStyle/>
          <a:p>
            <a:pPr>
              <a:defRPr sz="1400" b="1">
                <a:solidFill>
                  <a:srgbClr val="182B49"/>
                </a:solidFill>
              </a:defRPr>
            </a:pPr>
            <a:r>
              <a:t>1. Dense Vector Architecture</a:t>
            </a:r>
          </a:p>
          <a:p>
            <a:pPr>
              <a:spcBef>
                <a:spcPts val="1200"/>
              </a:spcBef>
              <a:defRPr sz="1150">
                <a:solidFill>
                  <a:srgbClr val="212529"/>
                </a:solidFill>
              </a:defRPr>
            </a:pPr>
            <a:r>
              <a:t>• Trained Word2Vec (Skip-Gram/CBOW)</a:t>
            </a:r>
            <a:br/>
            <a:r>
              <a:t>• 100-dimensional continuous space</a:t>
            </a:r>
            <a:br/>
            <a:r>
              <a:t>• Vocabulary: 6,018 unique disaster words</a:t>
            </a:r>
            <a:br/>
            <a:r>
              <a:t>• Captures synonymy that sparse one-hot encodings completely miss.</a:t>
            </a:r>
          </a:p>
        </p:txBody>
      </p:sp>
      <p:sp>
        <p:nvSpPr>
          <p:cNvPr id="8" name="Rounded Rectangle 7"/>
          <p:cNvSpPr/>
          <p:nvPr/>
        </p:nvSpPr>
        <p:spPr>
          <a:xfrm>
            <a:off x="4370832"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371600"/>
            <a:ext cx="3456432" cy="91440"/>
          </a:xfrm>
          <a:prstGeom prst="rect">
            <a:avLst/>
          </a:prstGeom>
          <a:solidFill>
            <a:srgbClr val="4C7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3090672" cy="4572000"/>
          </a:xfrm>
          <a:prstGeom prst="rect">
            <a:avLst/>
          </a:prstGeom>
          <a:noFill/>
        </p:spPr>
        <p:txBody>
          <a:bodyPr wrap="square">
            <a:spAutoFit/>
          </a:bodyPr>
          <a:lstStyle/>
          <a:p>
            <a:pPr>
              <a:defRPr sz="1400" b="1">
                <a:solidFill>
                  <a:srgbClr val="4C72B0"/>
                </a:solidFill>
              </a:defRPr>
            </a:pPr>
            <a:r>
              <a:t>2. Learned Semantic Similarities</a:t>
            </a:r>
          </a:p>
          <a:p>
            <a:pPr>
              <a:spcBef>
                <a:spcPts val="1200"/>
              </a:spcBef>
              <a:defRPr sz="1150">
                <a:solidFill>
                  <a:srgbClr val="212529"/>
                </a:solidFill>
              </a:defRPr>
            </a:pPr>
            <a:r>
              <a:t>Cosine distance in learned vector space:</a:t>
            </a:r>
            <a:br/>
            <a:r>
              <a:t>• 'bomb' ➔ bombing (0.96), responder (0.95), vest (0.94)</a:t>
            </a:r>
            <a:br/>
            <a:r>
              <a:t>• 'earthquake' ➔ hawaii (0.97), volcano (0.95)</a:t>
            </a:r>
            <a:br/>
            <a:r>
              <a:t>• 'emergency' ➔ plan (0.82), chemical (0.81)</a:t>
            </a:r>
          </a:p>
        </p:txBody>
      </p:sp>
      <p:sp>
        <p:nvSpPr>
          <p:cNvPr id="11" name="Rounded Rectangle 10"/>
          <p:cNvSpPr/>
          <p:nvPr/>
        </p:nvSpPr>
        <p:spPr>
          <a:xfrm>
            <a:off x="8010144"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0144" y="1371600"/>
            <a:ext cx="3456432" cy="91440"/>
          </a:xfrm>
          <a:prstGeom prst="rect">
            <a:avLst/>
          </a:prstGeom>
          <a:solidFill>
            <a:srgbClr val="55A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600200"/>
            <a:ext cx="3090672" cy="4572000"/>
          </a:xfrm>
          <a:prstGeom prst="rect">
            <a:avLst/>
          </a:prstGeom>
          <a:noFill/>
        </p:spPr>
        <p:txBody>
          <a:bodyPr wrap="square">
            <a:spAutoFit/>
          </a:bodyPr>
          <a:lstStyle/>
          <a:p>
            <a:pPr>
              <a:defRPr sz="1400" b="1">
                <a:solidFill>
                  <a:srgbClr val="55A868"/>
                </a:solidFill>
              </a:defRPr>
            </a:pPr>
            <a:r>
              <a:t>3. Document Classifier Benchmark</a:t>
            </a:r>
          </a:p>
          <a:p>
            <a:pPr>
              <a:spcBef>
                <a:spcPts val="1200"/>
              </a:spcBef>
              <a:defRPr sz="1150">
                <a:solidFill>
                  <a:srgbClr val="212529"/>
                </a:solidFill>
              </a:defRPr>
            </a:pPr>
            <a:r>
              <a:t>Averaged Word2Vec Document Classifier:</a:t>
            </a:r>
            <a:br/>
            <a:r>
              <a:t>• Accuracy: 76.82%</a:t>
            </a:r>
            <a:br/>
            <a:r>
              <a:t>• F1-Score: 70.66%</a:t>
            </a:r>
            <a:br/>
            <a:r>
              <a:t>• Provides strong continuous baseline; complements sparse TF-IDF n-gram patterns.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2 • MULTI-MODAL FUSION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Feature Experimentation: Text vs. Metadata vs. Hybrid</a:t>
            </a:r>
          </a:p>
        </p:txBody>
      </p:sp>
      <p:sp>
        <p:nvSpPr>
          <p:cNvPr id="5" name="Rounded Rectangle 4"/>
          <p:cNvSpPr/>
          <p:nvPr/>
        </p:nvSpPr>
        <p:spPr>
          <a:xfrm>
            <a:off x="731520" y="1371600"/>
            <a:ext cx="10728655" cy="23774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2194560"/>
          </a:xfrm>
          <a:prstGeom prst="rect">
            <a:avLst/>
          </a:prstGeom>
          <a:noFill/>
        </p:spPr>
        <p:txBody>
          <a:bodyPr wrap="square">
            <a:spAutoFit/>
          </a:bodyPr>
          <a:lstStyle/>
          <a:p>
            <a:pPr>
              <a:defRPr sz="1400" b="1">
                <a:solidFill>
                  <a:srgbClr val="182B49"/>
                </a:solidFill>
              </a:defRPr>
            </a:pPr>
            <a:r>
              <a:t>Pipeline Comparison via Scikit-Learn ColumnTransformer</a:t>
            </a:r>
          </a:p>
          <a:p>
            <a:pPr>
              <a:spcBef>
                <a:spcPts val="800"/>
              </a:spcBef>
              <a:defRPr sz="1050">
                <a:solidFill>
                  <a:srgbClr val="212529"/>
                </a:solidFill>
                <a:latin typeface="Courier New"/>
              </a:defRPr>
            </a:pPr>
            <a:r>
              <a:t>Configuration                           Accuracy    Precision    Recall    F1-Score    Key Observation</a:t>
            </a:r>
            <a:br/>
            <a:r>
              <a:t>1. Text-Only (TF-IDF N-Grams)            82.73%      85.48%      72.02%     78.17%     Highest precision &amp; optimal disaster phrase recognition</a:t>
            </a:r>
            <a:br/>
            <a:r>
              <a:t>2. Metadata-Only (Length, URLs, Sent)     67.63%      65.51%      51.99%     57.97%     Achieves ~68% accuracy without reading a single word</a:t>
            </a:r>
            <a:br/>
            <a:r>
              <a:t>3. Hybrid (TF-IDF + Standardized Meta)   80.17%      80.03%      71.71%     75.65%     Balanced multi-modal representation across dimensions</a:t>
            </a:r>
          </a:p>
        </p:txBody>
      </p:sp>
      <p:sp>
        <p:nvSpPr>
          <p:cNvPr id="7" name="Rounded Rectangle 6"/>
          <p:cNvSpPr/>
          <p:nvPr/>
        </p:nvSpPr>
        <p:spPr>
          <a:xfrm>
            <a:off x="731520" y="3931920"/>
            <a:ext cx="5212080" cy="23774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69080"/>
            <a:ext cx="4846320" cy="2103120"/>
          </a:xfrm>
          <a:prstGeom prst="rect">
            <a:avLst/>
          </a:prstGeom>
          <a:noFill/>
        </p:spPr>
        <p:txBody>
          <a:bodyPr wrap="square">
            <a:spAutoFit/>
          </a:bodyPr>
          <a:lstStyle/>
          <a:p>
            <a:pPr>
              <a:defRPr sz="1300" b="1">
                <a:solidFill>
                  <a:srgbClr val="D9534F"/>
                </a:solidFill>
              </a:defRPr>
            </a:pPr>
            <a:r>
              <a:t>Metadata Feature Weights (Coefficients)</a:t>
            </a:r>
          </a:p>
          <a:p>
            <a:pPr>
              <a:spcBef>
                <a:spcPts val="600"/>
              </a:spcBef>
              <a:defRPr sz="1100">
                <a:solidFill>
                  <a:srgbClr val="212529"/>
                </a:solidFill>
              </a:defRPr>
            </a:pPr>
            <a:r>
              <a:t>• Character Length (+1.31): Strong positive weight (longer formal descriptions).</a:t>
            </a:r>
            <a:br/>
            <a:r>
              <a:t>• Sentiment Compound (-0.44): Strong negative weight (distress indicates disaster).</a:t>
            </a:r>
            <a:br/>
            <a:r>
              <a:t>• User Mentions (-0.28): Negative weight (social chats are non-emergencies).</a:t>
            </a:r>
          </a:p>
        </p:txBody>
      </p:sp>
      <p:sp>
        <p:nvSpPr>
          <p:cNvPr id="9" name="Rounded Rectangle 8"/>
          <p:cNvSpPr/>
          <p:nvPr/>
        </p:nvSpPr>
        <p:spPr>
          <a:xfrm>
            <a:off x="6217920" y="3931920"/>
            <a:ext cx="5242255" cy="237744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069080"/>
            <a:ext cx="4846320" cy="2103120"/>
          </a:xfrm>
          <a:prstGeom prst="rect">
            <a:avLst/>
          </a:prstGeom>
          <a:noFill/>
        </p:spPr>
        <p:txBody>
          <a:bodyPr wrap="square">
            <a:spAutoFit/>
          </a:bodyPr>
          <a:lstStyle/>
          <a:p>
            <a:pPr>
              <a:defRPr sz="1300" b="1">
                <a:solidFill>
                  <a:srgbClr val="55A868"/>
                </a:solidFill>
              </a:defRPr>
            </a:pPr>
            <a:r>
              <a:t>Key Takeaway for Final Deployment</a:t>
            </a:r>
          </a:p>
          <a:p>
            <a:pPr>
              <a:spcBef>
                <a:spcPts val="600"/>
              </a:spcBef>
              <a:defRPr sz="1100">
                <a:solidFill>
                  <a:srgbClr val="212529"/>
                </a:solidFill>
              </a:defRPr>
            </a:pPr>
            <a:r>
              <a:t>While metadata carries notable standalone signal (67.6% accuracy), TF-IDF n-grams capture fine-grained vocabulary nuances (e.g., 'derailment' vs. 'delay') necessary for high-precision emergency alerting. TF-IDF was chosen for 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2 • MODEL TRAINING</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Model Selection &amp; 5-Fold Cross-Validation</a:t>
            </a:r>
          </a:p>
        </p:txBody>
      </p:sp>
      <p:sp>
        <p:nvSpPr>
          <p:cNvPr id="5" name="Rounded Rectangle 4"/>
          <p:cNvSpPr/>
          <p:nvPr/>
        </p:nvSpPr>
        <p:spPr>
          <a:xfrm>
            <a:off x="731520" y="1371600"/>
            <a:ext cx="4114800"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749039" cy="4663440"/>
          </a:xfrm>
          <a:prstGeom prst="rect">
            <a:avLst/>
          </a:prstGeom>
          <a:noFill/>
        </p:spPr>
        <p:txBody>
          <a:bodyPr wrap="square">
            <a:spAutoFit/>
          </a:bodyPr>
          <a:lstStyle/>
          <a:p>
            <a:pPr>
              <a:defRPr sz="1400" b="1">
                <a:solidFill>
                  <a:srgbClr val="182B49"/>
                </a:solidFill>
              </a:defRPr>
            </a:pPr>
            <a:r>
              <a:t>Rigorous Model Benchmarking</a:t>
            </a:r>
          </a:p>
          <a:p>
            <a:pPr>
              <a:spcBef>
                <a:spcPts val="600"/>
              </a:spcBef>
              <a:defRPr sz="1100">
                <a:solidFill>
                  <a:srgbClr val="212529"/>
                </a:solidFill>
              </a:defRPr>
            </a:pPr>
            <a:r>
              <a:t>To eliminate train-test split bias, 5-Fold Stratified Cross-Validation was conducted across three distinct classifier families:</a:t>
            </a:r>
            <a:br/>
            <a:br/>
            <a:r>
              <a:t>1. Logistic Regression (Linear + L2)</a:t>
            </a:r>
            <a:br/>
            <a:r>
              <a:t>   CV F1: 0.7389 ± 0.0118</a:t>
            </a:r>
            <a:br/>
            <a:r>
              <a:t>   CV Accuracy: 79.66% ± 0.97%</a:t>
            </a:r>
            <a:br/>
            <a:br/>
            <a:r>
              <a:t>2. Multinomial Naive Bayes (Probabilistic)</a:t>
            </a:r>
            <a:br/>
            <a:r>
              <a:t>   CV F1: 0.7305 ± 0.0142</a:t>
            </a:r>
            <a:br/>
            <a:r>
              <a:t>   CV Accuracy: 79.61% ± 1.01%</a:t>
            </a:r>
            <a:br/>
            <a:br/>
            <a:r>
              <a:t>3. Random Forest (Ensemble Trees)</a:t>
            </a:r>
            <a:br/>
            <a:r>
              <a:t>   CV F1: 0.7209 ± 0.0129</a:t>
            </a:r>
            <a:br/>
            <a:r>
              <a:t>   CV Accuracy: 77.90% ± 0.92%</a:t>
            </a:r>
          </a:p>
          <a:p>
            <a:pPr>
              <a:spcBef>
                <a:spcPts val="1000"/>
              </a:spcBef>
              <a:defRPr sz="1100" b="1">
                <a:solidFill>
                  <a:srgbClr val="55A868"/>
                </a:solidFill>
              </a:defRPr>
            </a:pPr>
            <a:r>
              <a:t>Decision: Logistic Regression selected for highest F1 &amp; stability.</a:t>
            </a:r>
          </a:p>
        </p:txBody>
      </p:sp>
      <p:pic>
        <p:nvPicPr>
          <p:cNvPr id="7" name="Picture 6" descr="slide_cv_models.png"/>
          <p:cNvPicPr>
            <a:picLocks noChangeAspect="1"/>
          </p:cNvPicPr>
          <p:nvPr/>
        </p:nvPicPr>
        <p:blipFill>
          <a:blip r:embed="rId2"/>
          <a:stretch>
            <a:fillRect/>
          </a:stretch>
        </p:blipFill>
        <p:spPr>
          <a:xfrm>
            <a:off x="5029200" y="1828800"/>
            <a:ext cx="6400800" cy="26883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2 • OPTIMIZATION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Hyperparameter Tuning &amp; Grid Search</a:t>
            </a:r>
          </a:p>
        </p:txBody>
      </p:sp>
      <p:sp>
        <p:nvSpPr>
          <p:cNvPr id="5" name="Rounded Rectangle 4"/>
          <p:cNvSpPr/>
          <p:nvPr/>
        </p:nvSpPr>
        <p:spPr>
          <a:xfrm>
            <a:off x="731520" y="1371600"/>
            <a:ext cx="10728655" cy="20116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32720" cy="1737360"/>
          </a:xfrm>
          <a:prstGeom prst="rect">
            <a:avLst/>
          </a:prstGeom>
          <a:noFill/>
        </p:spPr>
        <p:txBody>
          <a:bodyPr wrap="square">
            <a:spAutoFit/>
          </a:bodyPr>
          <a:lstStyle/>
          <a:p>
            <a:pPr>
              <a:defRPr sz="1400" b="1">
                <a:solidFill>
                  <a:srgbClr val="182B49"/>
                </a:solidFill>
              </a:defRPr>
            </a:pPr>
            <a:r>
              <a:t>GridSearchCV Space: 18 Candidates x 5 Folds = 90 Total Fits</a:t>
            </a:r>
          </a:p>
          <a:p>
            <a:pPr>
              <a:spcBef>
                <a:spcPts val="600"/>
              </a:spcBef>
              <a:defRPr sz="1100">
                <a:solidFill>
                  <a:srgbClr val="212529"/>
                </a:solidFill>
              </a:defRPr>
            </a:pPr>
            <a:r>
              <a:t>• tfidf__ngram_range: [(1, 1), (1, 2)]  ➔ Testing unigrams alone vs. unigrams + bigrams</a:t>
            </a:r>
            <a:br/>
            <a:r>
              <a:t>• tfidf__max_features: [3,000, 5,000]   ➔ Constraining vocabulary size to control model complexity</a:t>
            </a:r>
            <a:br/>
            <a:r>
              <a:t>• clf__C: [0.1, 1.0, 5.0]                ➔ L2 Inverse Regularization Strength (preventing overfitting)</a:t>
            </a:r>
            <a:br/>
            <a:r>
              <a:t>• Scoring Metric: F1-Score (prioritizing harmonic mean of precision and recall)</a:t>
            </a:r>
          </a:p>
        </p:txBody>
      </p:sp>
      <p:sp>
        <p:nvSpPr>
          <p:cNvPr id="7" name="Rounded Rectangle 6"/>
          <p:cNvSpPr/>
          <p:nvPr/>
        </p:nvSpPr>
        <p:spPr>
          <a:xfrm>
            <a:off x="731520" y="3566160"/>
            <a:ext cx="3456432" cy="27432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703320"/>
            <a:ext cx="3090672" cy="2468880"/>
          </a:xfrm>
          <a:prstGeom prst="rect">
            <a:avLst/>
          </a:prstGeom>
          <a:noFill/>
        </p:spPr>
        <p:txBody>
          <a:bodyPr wrap="square">
            <a:spAutoFit/>
          </a:bodyPr>
          <a:lstStyle/>
          <a:p>
            <a:pPr>
              <a:defRPr sz="1300" b="1">
                <a:solidFill>
                  <a:srgbClr val="182B49"/>
                </a:solidFill>
              </a:defRPr>
            </a:pPr>
            <a:r>
              <a:t>Optimal C Parameter</a:t>
            </a:r>
          </a:p>
          <a:p>
            <a:pPr>
              <a:spcBef>
                <a:spcPts val="800"/>
              </a:spcBef>
              <a:defRPr sz="2200" b="1">
                <a:solidFill>
                  <a:srgbClr val="4C72B0"/>
                </a:solidFill>
              </a:defRPr>
            </a:pPr>
            <a:r>
              <a:t>C = 1.0</a:t>
            </a:r>
          </a:p>
          <a:p>
            <a:pPr>
              <a:spcBef>
                <a:spcPts val="1000"/>
              </a:spcBef>
              <a:defRPr sz="1100">
                <a:solidFill>
                  <a:srgbClr val="212529"/>
                </a:solidFill>
              </a:defRPr>
            </a:pPr>
            <a:r>
              <a:t>Balanced L2 regularization prevents weight explosion while maintaining sensitivity.</a:t>
            </a:r>
          </a:p>
        </p:txBody>
      </p:sp>
      <p:sp>
        <p:nvSpPr>
          <p:cNvPr id="9" name="Rounded Rectangle 8"/>
          <p:cNvSpPr/>
          <p:nvPr/>
        </p:nvSpPr>
        <p:spPr>
          <a:xfrm>
            <a:off x="4370832" y="3566160"/>
            <a:ext cx="3456432" cy="27432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3703320"/>
            <a:ext cx="3090672" cy="2468880"/>
          </a:xfrm>
          <a:prstGeom prst="rect">
            <a:avLst/>
          </a:prstGeom>
          <a:noFill/>
        </p:spPr>
        <p:txBody>
          <a:bodyPr wrap="square">
            <a:spAutoFit/>
          </a:bodyPr>
          <a:lstStyle/>
          <a:p>
            <a:pPr>
              <a:defRPr sz="1300" b="1">
                <a:solidFill>
                  <a:srgbClr val="182B49"/>
                </a:solidFill>
              </a:defRPr>
            </a:pPr>
            <a:r>
              <a:t>Optimal N-Gram Range</a:t>
            </a:r>
          </a:p>
          <a:p>
            <a:pPr>
              <a:spcBef>
                <a:spcPts val="800"/>
              </a:spcBef>
              <a:defRPr sz="2200" b="1">
                <a:solidFill>
                  <a:srgbClr val="D9534F"/>
                </a:solidFill>
              </a:defRPr>
            </a:pPr>
            <a:r>
              <a:t>(1, 2) Bi-grams</a:t>
            </a:r>
          </a:p>
          <a:p>
            <a:pPr>
              <a:spcBef>
                <a:spcPts val="1000"/>
              </a:spcBef>
              <a:defRPr sz="1100">
                <a:solidFill>
                  <a:srgbClr val="212529"/>
                </a:solidFill>
              </a:defRPr>
            </a:pPr>
            <a:r>
              <a:t>Captures vital context pairs like 'wildfire evacuation' and 'suicide bomber'.</a:t>
            </a:r>
          </a:p>
        </p:txBody>
      </p:sp>
      <p:sp>
        <p:nvSpPr>
          <p:cNvPr id="11" name="Rounded Rectangle 10"/>
          <p:cNvSpPr/>
          <p:nvPr/>
        </p:nvSpPr>
        <p:spPr>
          <a:xfrm>
            <a:off x="8010144" y="3566160"/>
            <a:ext cx="3456432" cy="27432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3703320"/>
            <a:ext cx="3090672" cy="2468880"/>
          </a:xfrm>
          <a:prstGeom prst="rect">
            <a:avLst/>
          </a:prstGeom>
          <a:noFill/>
        </p:spPr>
        <p:txBody>
          <a:bodyPr wrap="square">
            <a:spAutoFit/>
          </a:bodyPr>
          <a:lstStyle/>
          <a:p>
            <a:pPr>
              <a:defRPr sz="1300" b="1">
                <a:solidFill>
                  <a:srgbClr val="182B49"/>
                </a:solidFill>
              </a:defRPr>
            </a:pPr>
            <a:r>
              <a:t>Max Features</a:t>
            </a:r>
          </a:p>
          <a:p>
            <a:pPr>
              <a:spcBef>
                <a:spcPts val="800"/>
              </a:spcBef>
              <a:defRPr sz="2200" b="1">
                <a:solidFill>
                  <a:srgbClr val="55A868"/>
                </a:solidFill>
              </a:defRPr>
            </a:pPr>
            <a:r>
              <a:t>5,000 Vocabulary</a:t>
            </a:r>
          </a:p>
          <a:p>
            <a:pPr>
              <a:spcBef>
                <a:spcPts val="1000"/>
              </a:spcBef>
              <a:defRPr sz="1100">
                <a:solidFill>
                  <a:srgbClr val="212529"/>
                </a:solidFill>
              </a:defRPr>
            </a:pPr>
            <a:r>
              <a:t>Eliminates low-frequency noise while retaining essential emergency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3 • PERFORMANCE ASSESSMENT</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Final Model Evaluation on Test Data</a:t>
            </a:r>
          </a:p>
        </p:txBody>
      </p:sp>
      <p:sp>
        <p:nvSpPr>
          <p:cNvPr id="5" name="Rounded Rectangle 4"/>
          <p:cNvSpPr/>
          <p:nvPr/>
        </p:nvSpPr>
        <p:spPr>
          <a:xfrm>
            <a:off x="731520" y="1371600"/>
            <a:ext cx="2542032" cy="13716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2267712" cy="1188720"/>
          </a:xfrm>
          <a:prstGeom prst="rect">
            <a:avLst/>
          </a:prstGeom>
          <a:noFill/>
        </p:spPr>
        <p:txBody>
          <a:bodyPr wrap="square">
            <a:spAutoFit/>
          </a:bodyPr>
          <a:lstStyle/>
          <a:p>
            <a:pPr>
              <a:defRPr sz="1100" b="1">
                <a:solidFill>
                  <a:srgbClr val="6C757D"/>
                </a:solidFill>
              </a:defRPr>
            </a:pPr>
            <a:r>
              <a:t>ACCURACY</a:t>
            </a:r>
          </a:p>
          <a:p>
            <a:pPr>
              <a:spcBef>
                <a:spcPts val="200"/>
              </a:spcBef>
              <a:defRPr sz="2400" b="1">
                <a:solidFill>
                  <a:srgbClr val="4C72B0"/>
                </a:solidFill>
              </a:defRPr>
            </a:pPr>
            <a:r>
              <a:t>82.73%</a:t>
            </a:r>
          </a:p>
          <a:p>
            <a:pPr>
              <a:defRPr sz="950">
                <a:solidFill>
                  <a:srgbClr val="212529"/>
                </a:solidFill>
              </a:defRPr>
            </a:pPr>
            <a:r>
              <a:t>Correct predictions overall</a:t>
            </a:r>
          </a:p>
        </p:txBody>
      </p:sp>
      <p:sp>
        <p:nvSpPr>
          <p:cNvPr id="7" name="Rounded Rectangle 6"/>
          <p:cNvSpPr/>
          <p:nvPr/>
        </p:nvSpPr>
        <p:spPr>
          <a:xfrm>
            <a:off x="3456432" y="1371600"/>
            <a:ext cx="2542032" cy="13716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417320"/>
            <a:ext cx="2267712" cy="1188720"/>
          </a:xfrm>
          <a:prstGeom prst="rect">
            <a:avLst/>
          </a:prstGeom>
          <a:noFill/>
        </p:spPr>
        <p:txBody>
          <a:bodyPr wrap="square">
            <a:spAutoFit/>
          </a:bodyPr>
          <a:lstStyle/>
          <a:p>
            <a:pPr>
              <a:defRPr sz="1100" b="1">
                <a:solidFill>
                  <a:srgbClr val="6C757D"/>
                </a:solidFill>
              </a:defRPr>
            </a:pPr>
            <a:r>
              <a:t>PRECISION</a:t>
            </a:r>
          </a:p>
          <a:p>
            <a:pPr>
              <a:spcBef>
                <a:spcPts val="200"/>
              </a:spcBef>
              <a:defRPr sz="2400" b="1">
                <a:solidFill>
                  <a:srgbClr val="D9534F"/>
                </a:solidFill>
              </a:defRPr>
            </a:pPr>
            <a:r>
              <a:t>85.48%</a:t>
            </a:r>
          </a:p>
          <a:p>
            <a:pPr>
              <a:defRPr sz="950">
                <a:solidFill>
                  <a:srgbClr val="212529"/>
                </a:solidFill>
              </a:defRPr>
            </a:pPr>
            <a:r>
              <a:t>Low false positive alarms</a:t>
            </a:r>
          </a:p>
        </p:txBody>
      </p:sp>
      <p:sp>
        <p:nvSpPr>
          <p:cNvPr id="9" name="Rounded Rectangle 8"/>
          <p:cNvSpPr/>
          <p:nvPr/>
        </p:nvSpPr>
        <p:spPr>
          <a:xfrm>
            <a:off x="6181344" y="1371600"/>
            <a:ext cx="2542032" cy="13716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417320"/>
            <a:ext cx="2267712" cy="1188720"/>
          </a:xfrm>
          <a:prstGeom prst="rect">
            <a:avLst/>
          </a:prstGeom>
          <a:noFill/>
        </p:spPr>
        <p:txBody>
          <a:bodyPr wrap="square">
            <a:spAutoFit/>
          </a:bodyPr>
          <a:lstStyle/>
          <a:p>
            <a:pPr>
              <a:defRPr sz="1100" b="1">
                <a:solidFill>
                  <a:srgbClr val="6C757D"/>
                </a:solidFill>
              </a:defRPr>
            </a:pPr>
            <a:r>
              <a:t>RECALL</a:t>
            </a:r>
          </a:p>
          <a:p>
            <a:pPr>
              <a:spcBef>
                <a:spcPts val="200"/>
              </a:spcBef>
              <a:defRPr sz="2400" b="1">
                <a:solidFill>
                  <a:srgbClr val="182B49"/>
                </a:solidFill>
              </a:defRPr>
            </a:pPr>
            <a:r>
              <a:t>72.02%</a:t>
            </a:r>
          </a:p>
          <a:p>
            <a:pPr>
              <a:defRPr sz="950">
                <a:solidFill>
                  <a:srgbClr val="212529"/>
                </a:solidFill>
              </a:defRPr>
            </a:pPr>
            <a:r>
              <a:t>True disaster detection rate</a:t>
            </a:r>
          </a:p>
        </p:txBody>
      </p:sp>
      <p:sp>
        <p:nvSpPr>
          <p:cNvPr id="11" name="Rounded Rectangle 10"/>
          <p:cNvSpPr/>
          <p:nvPr/>
        </p:nvSpPr>
        <p:spPr>
          <a:xfrm>
            <a:off x="8906256" y="1371600"/>
            <a:ext cx="2542032" cy="13716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417320"/>
            <a:ext cx="2267712" cy="1188720"/>
          </a:xfrm>
          <a:prstGeom prst="rect">
            <a:avLst/>
          </a:prstGeom>
          <a:noFill/>
        </p:spPr>
        <p:txBody>
          <a:bodyPr wrap="square">
            <a:spAutoFit/>
          </a:bodyPr>
          <a:lstStyle/>
          <a:p>
            <a:pPr>
              <a:defRPr sz="1100" b="1">
                <a:solidFill>
                  <a:srgbClr val="6C757D"/>
                </a:solidFill>
              </a:defRPr>
            </a:pPr>
            <a:r>
              <a:t>F1-SCORE</a:t>
            </a:r>
          </a:p>
          <a:p>
            <a:pPr>
              <a:spcBef>
                <a:spcPts val="200"/>
              </a:spcBef>
              <a:defRPr sz="2400" b="1">
                <a:solidFill>
                  <a:srgbClr val="55A868"/>
                </a:solidFill>
              </a:defRPr>
            </a:pPr>
            <a:r>
              <a:t>78.17%</a:t>
            </a:r>
          </a:p>
          <a:p>
            <a:pPr>
              <a:defRPr sz="950">
                <a:solidFill>
                  <a:srgbClr val="212529"/>
                </a:solidFill>
              </a:defRPr>
            </a:pPr>
            <a:r>
              <a:t>Balanced harmonic mean</a:t>
            </a:r>
          </a:p>
        </p:txBody>
      </p:sp>
      <p:pic>
        <p:nvPicPr>
          <p:cNvPr id="13" name="Picture 12" descr="slide_eval_cm_roc.png"/>
          <p:cNvPicPr>
            <a:picLocks noChangeAspect="1"/>
          </p:cNvPicPr>
          <p:nvPr/>
        </p:nvPicPr>
        <p:blipFill>
          <a:blip r:embed="rId2"/>
          <a:stretch>
            <a:fillRect/>
          </a:stretch>
        </p:blipFill>
        <p:spPr>
          <a:xfrm>
            <a:off x="731520" y="2926080"/>
            <a:ext cx="10728655" cy="34484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3 • MODEL VALIDATION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Overfitting &amp; Bias-Variance Diagnostics</a:t>
            </a:r>
          </a:p>
        </p:txBody>
      </p:sp>
      <p:sp>
        <p:nvSpPr>
          <p:cNvPr id="5" name="Rounded Rectangle 4"/>
          <p:cNvSpPr/>
          <p:nvPr/>
        </p:nvSpPr>
        <p:spPr>
          <a:xfrm>
            <a:off x="731520" y="1371600"/>
            <a:ext cx="4114800"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749039" cy="4663440"/>
          </a:xfrm>
          <a:prstGeom prst="rect">
            <a:avLst/>
          </a:prstGeom>
          <a:noFill/>
        </p:spPr>
        <p:txBody>
          <a:bodyPr wrap="square">
            <a:spAutoFit/>
          </a:bodyPr>
          <a:lstStyle/>
          <a:p>
            <a:pPr>
              <a:defRPr sz="1400" b="1">
                <a:solidFill>
                  <a:srgbClr val="182B49"/>
                </a:solidFill>
              </a:defRPr>
            </a:pPr>
            <a:r>
              <a:t>Generalization Gap Audit</a:t>
            </a:r>
          </a:p>
          <a:p>
            <a:pPr>
              <a:spcBef>
                <a:spcPts val="600"/>
              </a:spcBef>
              <a:defRPr sz="1100">
                <a:solidFill>
                  <a:srgbClr val="212529"/>
                </a:solidFill>
              </a:defRPr>
            </a:pPr>
            <a:r>
              <a:t>Comparing performance between Train and Test sets:</a:t>
            </a:r>
            <a:br/>
            <a:br/>
            <a:r>
              <a:t>• Accuracy Gap: +4.18%</a:t>
            </a:r>
            <a:br/>
            <a:r>
              <a:t>   (Train: 86.91% vs. Test: 82.73%)</a:t>
            </a:r>
            <a:br/>
            <a:br/>
            <a:r>
              <a:t>• Precision Gap: +6.81%</a:t>
            </a:r>
            <a:br/>
            <a:r>
              <a:t>   (Train: 92.29% vs. Test: 85.48%)</a:t>
            </a:r>
            <a:br/>
            <a:br/>
            <a:r>
              <a:t>• Recall Gap: +3.87%</a:t>
            </a:r>
            <a:br/>
            <a:r>
              <a:t>   (Train: 75.89% vs. Test: 72.02%)</a:t>
            </a:r>
            <a:br/>
            <a:br/>
            <a:r>
              <a:t>• F1-Score Gap: +5.11%</a:t>
            </a:r>
            <a:br/>
            <a:r>
              <a:t>   (Train: 83.29% vs. Test: 78.17%)</a:t>
            </a:r>
          </a:p>
          <a:p>
            <a:pPr>
              <a:spcBef>
                <a:spcPts val="1200"/>
              </a:spcBef>
              <a:defRPr sz="1300" b="1">
                <a:solidFill>
                  <a:srgbClr val="55A868"/>
                </a:solidFill>
              </a:defRPr>
            </a:pPr>
            <a:r>
              <a:t>Status: Healthy Generalization</a:t>
            </a:r>
          </a:p>
        </p:txBody>
      </p:sp>
      <p:pic>
        <p:nvPicPr>
          <p:cNvPr id="7" name="Picture 6" descr="slide_learning_curves.png"/>
          <p:cNvPicPr>
            <a:picLocks noChangeAspect="1"/>
          </p:cNvPicPr>
          <p:nvPr/>
        </p:nvPicPr>
        <p:blipFill>
          <a:blip r:embed="rId2"/>
          <a:stretch>
            <a:fillRect/>
          </a:stretch>
        </p:blipFill>
        <p:spPr>
          <a:xfrm>
            <a:off x="5029200" y="1828800"/>
            <a:ext cx="6400800" cy="28803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PART 4 • CLOUD DEPLOYMENT</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Deployment Architecture &amp; Web Interface</a:t>
            </a:r>
          </a:p>
        </p:txBody>
      </p:sp>
      <p:sp>
        <p:nvSpPr>
          <p:cNvPr id="5" name="Rounded Rectangle 4"/>
          <p:cNvSpPr/>
          <p:nvPr/>
        </p:nvSpPr>
        <p:spPr>
          <a:xfrm>
            <a:off x="731520"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456432" cy="91440"/>
          </a:xfrm>
          <a:prstGeom prst="rect">
            <a:avLst/>
          </a:prstGeom>
          <a:solidFill>
            <a:srgbClr val="4C7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090672" cy="4572000"/>
          </a:xfrm>
          <a:prstGeom prst="rect">
            <a:avLst/>
          </a:prstGeom>
          <a:noFill/>
        </p:spPr>
        <p:txBody>
          <a:bodyPr wrap="square">
            <a:spAutoFit/>
          </a:bodyPr>
          <a:lstStyle/>
          <a:p>
            <a:pPr>
              <a:defRPr sz="1400" b="1">
                <a:solidFill>
                  <a:srgbClr val="4C72B0"/>
                </a:solidFill>
              </a:defRPr>
            </a:pPr>
            <a:r>
              <a:t>Interactive Streamlit UI (app.py)</a:t>
            </a:r>
          </a:p>
          <a:p>
            <a:pPr>
              <a:spcBef>
                <a:spcPts val="1200"/>
              </a:spcBef>
              <a:defRPr sz="1100">
                <a:solidFill>
                  <a:srgbClr val="212529"/>
                </a:solidFill>
              </a:defRPr>
            </a:pPr>
            <a:r>
              <a:t>• Text Area for pasting raw tweet text.</a:t>
            </a:r>
            <a:br/>
            <a:r>
              <a:t>• Real-time classification button.</a:t>
            </a:r>
            <a:br/>
            <a:r>
              <a:t>• Clear prediction badge (Disaster vs. Non-Disaster).</a:t>
            </a:r>
            <a:br/>
            <a:r>
              <a:t>• Confidence probability percentage indicator.</a:t>
            </a:r>
          </a:p>
        </p:txBody>
      </p:sp>
      <p:sp>
        <p:nvSpPr>
          <p:cNvPr id="8" name="Rounded Rectangle 7"/>
          <p:cNvSpPr/>
          <p:nvPr/>
        </p:nvSpPr>
        <p:spPr>
          <a:xfrm>
            <a:off x="4370832"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371600"/>
            <a:ext cx="3456432" cy="9144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3090672" cy="4572000"/>
          </a:xfrm>
          <a:prstGeom prst="rect">
            <a:avLst/>
          </a:prstGeom>
          <a:noFill/>
        </p:spPr>
        <p:txBody>
          <a:bodyPr wrap="square">
            <a:spAutoFit/>
          </a:bodyPr>
          <a:lstStyle/>
          <a:p>
            <a:pPr>
              <a:defRPr sz="1400" b="1">
                <a:solidFill>
                  <a:srgbClr val="182B49"/>
                </a:solidFill>
              </a:defRPr>
            </a:pPr>
            <a:r>
              <a:t>Model Backend Pipeline</a:t>
            </a:r>
          </a:p>
          <a:p>
            <a:pPr>
              <a:spcBef>
                <a:spcPts val="1200"/>
              </a:spcBef>
              <a:defRPr sz="1100">
                <a:solidFill>
                  <a:srgbClr val="212529"/>
                </a:solidFill>
              </a:defRPr>
            </a:pPr>
            <a:r>
              <a:t>• Serialized via joblib: disaster_tweet_classifier.pkl.</a:t>
            </a:r>
            <a:br/>
            <a:r>
              <a:t>• Pipeline integrates TF-IDF Vectorizer + tuned Logistic Regression.</a:t>
            </a:r>
            <a:br/>
            <a:r>
              <a:t>• In-memory model caching via @st.cache_resource.</a:t>
            </a:r>
          </a:p>
        </p:txBody>
      </p:sp>
      <p:sp>
        <p:nvSpPr>
          <p:cNvPr id="11" name="Rounded Rectangle 10"/>
          <p:cNvSpPr/>
          <p:nvPr/>
        </p:nvSpPr>
        <p:spPr>
          <a:xfrm>
            <a:off x="8010144" y="1371600"/>
            <a:ext cx="3456432"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0144" y="1371600"/>
            <a:ext cx="3456432" cy="91440"/>
          </a:xfrm>
          <a:prstGeom prst="rect">
            <a:avLst/>
          </a:prstGeom>
          <a:solidFill>
            <a:srgbClr val="55A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600200"/>
            <a:ext cx="3090672" cy="4572000"/>
          </a:xfrm>
          <a:prstGeom prst="rect">
            <a:avLst/>
          </a:prstGeom>
          <a:noFill/>
        </p:spPr>
        <p:txBody>
          <a:bodyPr wrap="square">
            <a:spAutoFit/>
          </a:bodyPr>
          <a:lstStyle/>
          <a:p>
            <a:pPr>
              <a:defRPr sz="1400" b="1">
                <a:solidFill>
                  <a:srgbClr val="55A868"/>
                </a:solidFill>
              </a:defRPr>
            </a:pPr>
            <a:r>
              <a:t>Production Cloud Readiness</a:t>
            </a:r>
          </a:p>
          <a:p>
            <a:pPr>
              <a:spcBef>
                <a:spcPts val="1200"/>
              </a:spcBef>
              <a:defRPr sz="1100">
                <a:solidFill>
                  <a:srgbClr val="212529"/>
                </a:solidFill>
              </a:defRPr>
            </a:pPr>
            <a:r>
              <a:t>• requirements.txt: Streamlit, scikit-learn, joblib, NLTK.</a:t>
            </a:r>
            <a:br/>
            <a:r>
              <a:t>• Procfile: PaaS execution (Heroku / Render).</a:t>
            </a:r>
            <a:br/>
            <a:r>
              <a:t>• Dockerfile: Standalone container for AWS / GCP.</a:t>
            </a:r>
            <a:br/>
            <a:r>
              <a:t>• .streamlit/config.toml: Headless server configuration.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a:spAutoFit/>
          </a:bodyPr>
          <a:lstStyle/>
          <a:p>
            <a:pPr>
              <a:defRPr sz="1000" b="1">
                <a:solidFill>
                  <a:srgbClr val="D9534F"/>
                </a:solidFill>
              </a:defRPr>
            </a:pPr>
            <a:r>
              <a:t>PROJECT SUMMARY</a:t>
            </a:r>
          </a:p>
        </p:txBody>
      </p:sp>
      <p:sp>
        <p:nvSpPr>
          <p:cNvPr id="4" name="TextBox 3"/>
          <p:cNvSpPr txBox="1"/>
          <p:nvPr/>
        </p:nvSpPr>
        <p:spPr>
          <a:xfrm>
            <a:off x="731520" y="594360"/>
            <a:ext cx="10698480" cy="640080"/>
          </a:xfrm>
          <a:prstGeom prst="rect">
            <a:avLst/>
          </a:prstGeom>
          <a:noFill/>
        </p:spPr>
        <p:txBody>
          <a:bodyPr wrap="square">
            <a:spAutoFit/>
          </a:bodyPr>
          <a:lstStyle/>
          <a:p>
            <a:pPr>
              <a:defRPr sz="2200" b="1">
                <a:solidFill>
                  <a:srgbClr val="182B49"/>
                </a:solidFill>
              </a:defRPr>
            </a:pPr>
            <a:r>
              <a:t>Conclusions &amp; Future Enhancements</a:t>
            </a:r>
          </a:p>
        </p:txBody>
      </p:sp>
      <p:sp>
        <p:nvSpPr>
          <p:cNvPr id="5" name="Rounded Rectangle 4"/>
          <p:cNvSpPr/>
          <p:nvPr/>
        </p:nvSpPr>
        <p:spPr>
          <a:xfrm>
            <a:off x="731520" y="1371600"/>
            <a:ext cx="5212080"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663440"/>
          </a:xfrm>
          <a:prstGeom prst="rect">
            <a:avLst/>
          </a:prstGeom>
          <a:noFill/>
        </p:spPr>
        <p:txBody>
          <a:bodyPr wrap="square">
            <a:spAutoFit/>
          </a:bodyPr>
          <a:lstStyle/>
          <a:p>
            <a:pPr>
              <a:defRPr sz="1500" b="1">
                <a:solidFill>
                  <a:srgbClr val="55A868"/>
                </a:solidFill>
              </a:defRPr>
            </a:pPr>
            <a:r>
              <a:t>Key Project Achievements</a:t>
            </a:r>
          </a:p>
          <a:p>
            <a:pPr>
              <a:spcBef>
                <a:spcPts val="1000"/>
              </a:spcBef>
              <a:defRPr sz="1100">
                <a:solidFill>
                  <a:srgbClr val="212529"/>
                </a:solidFill>
              </a:defRPr>
            </a:pPr>
            <a:r>
              <a:t>• End-to-End NLP Lifecycle:</a:t>
            </a:r>
            <a:br/>
            <a:r>
              <a:t>  Conducted comprehensive EDA, quality audits, cleaning, feature extraction, cross-validation, and deployment.</a:t>
            </a:r>
            <a:br/>
            <a:br/>
            <a:r>
              <a:t>• High Precision Disaster Alerting:</a:t>
            </a:r>
            <a:br/>
            <a:r>
              <a:t>  Achieved 85.5% Precision and 82.7% Accuracy, successfully suppressing false alarms from metaphorical expressions.</a:t>
            </a:r>
            <a:br/>
            <a:br/>
            <a:r>
              <a:t>• Robust Feature Engineering:</a:t>
            </a:r>
            <a:br/>
            <a:r>
              <a:t>  Combined TF-IDF n-grams with VADER sentiment polarity and dense Word2Vec semantic embeddings.</a:t>
            </a:r>
            <a:br/>
            <a:br/>
            <a:r>
              <a:t>• Production Packaging:</a:t>
            </a:r>
            <a:br/>
            <a:r>
              <a:t>  Delivered a containerized web application ready for cloud hosting on Heroku or AWS.</a:t>
            </a:r>
          </a:p>
        </p:txBody>
      </p:sp>
      <p:sp>
        <p:nvSpPr>
          <p:cNvPr id="7" name="Rounded Rectangle 6"/>
          <p:cNvSpPr/>
          <p:nvPr/>
        </p:nvSpPr>
        <p:spPr>
          <a:xfrm>
            <a:off x="6217920" y="1371600"/>
            <a:ext cx="5242255" cy="493776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4663440"/>
          </a:xfrm>
          <a:prstGeom prst="rect">
            <a:avLst/>
          </a:prstGeom>
          <a:noFill/>
        </p:spPr>
        <p:txBody>
          <a:bodyPr wrap="square">
            <a:spAutoFit/>
          </a:bodyPr>
          <a:lstStyle/>
          <a:p>
            <a:pPr>
              <a:defRPr sz="1500" b="1">
                <a:solidFill>
                  <a:srgbClr val="4C72B0"/>
                </a:solidFill>
              </a:defRPr>
            </a:pPr>
            <a:r>
              <a:t>Future Scope &amp; Recommendations</a:t>
            </a:r>
          </a:p>
          <a:p>
            <a:pPr>
              <a:spcBef>
                <a:spcPts val="1000"/>
              </a:spcBef>
              <a:defRPr sz="1100">
                <a:solidFill>
                  <a:srgbClr val="212529"/>
                </a:solidFill>
              </a:defRPr>
            </a:pPr>
            <a:r>
              <a:t>• Transformer Architectures:</a:t>
            </a:r>
            <a:br/>
            <a:r>
              <a:t>  Fine-tune BERT, RoBERTa, or DeBERTa models to capture bi-directional context and deep syntactic nuance.</a:t>
            </a:r>
            <a:br/>
            <a:br/>
            <a:r>
              <a:t>• Real-Time Twitter Streaming:</a:t>
            </a:r>
            <a:br/>
            <a:r>
              <a:t>  Integrate Twitter Streaming API with Kafka/RabbitMQ to ingest and classify tweets in real time.</a:t>
            </a:r>
            <a:br/>
            <a:br/>
            <a:r>
              <a:t>• Geolocation &amp; Interactive Heatmaps:</a:t>
            </a:r>
            <a:br/>
            <a:r>
              <a:t>  Extract and geocode user locations to visualize disaster clusters on live GIS mapping dashboards.</a:t>
            </a:r>
            <a:br/>
            <a:br/>
            <a:r>
              <a:t>• Multilingual Support:</a:t>
            </a:r>
            <a:br/>
            <a:r>
              <a:t>  Expand NLP preprocessing and models to monitor global emergencies in Spanish, French, Japanese, and Hindi.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